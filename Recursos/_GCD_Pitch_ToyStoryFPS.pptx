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8" r:id="rId12"/>
    <p:sldId id="270" r:id="rId13"/>
    <p:sldId id="271" r:id="rId14"/>
    <p:sldId id="272" r:id="rId15"/>
    <p:sldId id="258"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1F78A0-33CE-A39D-ADA9-9EB0155BF44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757AFD5-1029-EF59-F7C7-CB717151D8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A618E5F-AC5F-B313-5182-264ED46CF5CD}"/>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DF3CD899-8EF7-267F-8F2D-B2F66BA3371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B013F41-5671-BEAA-2176-E9AE98B49A07}"/>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66781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36C49C-0108-73CF-2375-9248C0156E2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8F5EA3-0E3D-05E9-7BCC-3242017002B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FA30F34-BEC1-F194-4F85-60A35AE75F3E}"/>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D970A939-BF0A-556F-438A-4302B924C53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D070A81-FC5A-59D9-E0BC-3A867FEACB16}"/>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64741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18AD94-48E6-BBAA-0E22-E8040430FAC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3871045-35E0-AFAA-158D-596DAAFB48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57299CF-F591-DF91-6408-FC20365D5B16}"/>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3711A0FF-78F7-045E-1B37-783774DCC1F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866C9B4-6434-CF9E-116B-0E8FAAD0D0E9}"/>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2158495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58B2FC-0247-C814-ECF0-B6FEB2A6571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51E9EDA-511A-ED04-7E29-3B527DAB87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E472007-9752-5540-289B-ABCEF659B03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2FABB46-7476-9B06-210B-89D8DC5B56BE}"/>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6" name="Marcador de pie de página 5">
            <a:extLst>
              <a:ext uri="{FF2B5EF4-FFF2-40B4-BE49-F238E27FC236}">
                <a16:creationId xmlns:a16="http://schemas.microsoft.com/office/drawing/2014/main" id="{5EC428CE-D0AD-51E4-817B-D162443C2AE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F0E8958-4483-DD5C-D145-04CC1AE22E4E}"/>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2400601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C1787E-3C89-FDB7-8C7B-98612D065EFF}"/>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63910A1-4C23-71E0-CC09-FCC6671BE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56198E8-5A44-5DB1-2E77-7AE85AFE913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52F4EE7C-42BB-7D8A-BCEF-815E942772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0FAD256-F08F-8596-12FA-DC9B7C8ABEB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DC432F7-0AEF-E556-FEC6-ED7CA87718FB}"/>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8" name="Marcador de pie de página 7">
            <a:extLst>
              <a:ext uri="{FF2B5EF4-FFF2-40B4-BE49-F238E27FC236}">
                <a16:creationId xmlns:a16="http://schemas.microsoft.com/office/drawing/2014/main" id="{4E706822-F07D-2B5B-A5F6-FC44CE4D81D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2489241-5971-7A7E-0437-DBC537493910}"/>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422244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039F00-756F-B7C5-E63E-4336E3C5078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EA3CF446-A5F4-5844-252E-22C10CA74C7B}"/>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4" name="Marcador de pie de página 3">
            <a:extLst>
              <a:ext uri="{FF2B5EF4-FFF2-40B4-BE49-F238E27FC236}">
                <a16:creationId xmlns:a16="http://schemas.microsoft.com/office/drawing/2014/main" id="{45EE0423-954F-D089-02B2-B8E983A0F0A0}"/>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F6886EF-8F02-D6A4-ED81-DC3FF5086B11}"/>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288162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04E2BAB-387C-6658-CD76-C9686CF90F02}"/>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3" name="Marcador de pie de página 2">
            <a:extLst>
              <a:ext uri="{FF2B5EF4-FFF2-40B4-BE49-F238E27FC236}">
                <a16:creationId xmlns:a16="http://schemas.microsoft.com/office/drawing/2014/main" id="{1C9D7D57-0920-66ED-4BB7-3C5F505F554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36DC37C-3422-66FC-3F93-101A54C701A3}"/>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249191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6553D-C47A-4FBF-CD88-B301BD9446D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A5D2795-A968-5FF9-13C1-9E54DDCF4B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19FCBE9C-8290-B655-E510-A634A56A13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8A8750-163C-5B19-3C78-91EFEDBA4720}"/>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6" name="Marcador de pie de página 5">
            <a:extLst>
              <a:ext uri="{FF2B5EF4-FFF2-40B4-BE49-F238E27FC236}">
                <a16:creationId xmlns:a16="http://schemas.microsoft.com/office/drawing/2014/main" id="{6BF291BB-AE7B-45DA-85FE-A11492C242A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F1D827F-7820-DA68-DF01-DAF908C09124}"/>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889660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9D9557-28F4-C1B5-B39D-BA20160906F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CFF0C3D-EA9E-2E61-DB52-0359CC6F7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F904961-51B9-78C3-B149-F35262C03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4FF7B6E-D9AC-CA29-5CB4-60DFB2FC218B}"/>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6" name="Marcador de pie de página 5">
            <a:extLst>
              <a:ext uri="{FF2B5EF4-FFF2-40B4-BE49-F238E27FC236}">
                <a16:creationId xmlns:a16="http://schemas.microsoft.com/office/drawing/2014/main" id="{590EAB7E-B721-CE18-6392-7FBB7D3B69C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D71F17F-29F9-E0DF-4466-91A719D2479E}"/>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15256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D16F2F-C7DD-163B-6835-6FE47C38DC9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6CF372B-97D1-14C9-F293-168342E7E7E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A0F850-030A-3EB4-4C3E-3921CFD41D71}"/>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98E19622-557D-8E46-595E-B49EF4DA6D8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5CAA623-CF89-5C15-8AB1-8E355F38B22B}"/>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365386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3BA4FAD-E6E4-E4D0-661C-1AA5DFAB56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24D7838-7317-0DC8-21C9-1AAD7871D1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B092AAD-A802-1BA2-D66D-61D26E24D8BA}"/>
              </a:ext>
            </a:extLst>
          </p:cNvPr>
          <p:cNvSpPr>
            <a:spLocks noGrp="1"/>
          </p:cNvSpPr>
          <p:nvPr>
            <p:ph type="dt" sz="half" idx="10"/>
          </p:nvPr>
        </p:nvSpPr>
        <p:spPr/>
        <p:txBody>
          <a:body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AF413E0E-8E9D-224B-2E4F-D88893A303B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DFB61EC-D9DC-C0F0-5709-065A9CDE954D}"/>
              </a:ext>
            </a:extLst>
          </p:cNvPr>
          <p:cNvSpPr>
            <a:spLocks noGrp="1"/>
          </p:cNvSpPr>
          <p:nvPr>
            <p:ph type="sldNum" sz="quarter" idx="12"/>
          </p:nvPr>
        </p:nvSpPr>
        <p:spPr/>
        <p:txBody>
          <a:bodyPr/>
          <a:lstStyle/>
          <a:p>
            <a:fld id="{7B0B9171-A153-4759-BF68-B306D62331F2}" type="slidenum">
              <a:rPr lang="es-ES" smtClean="0"/>
              <a:pPr/>
              <a:t>‹Nº›</a:t>
            </a:fld>
            <a:endParaRPr lang="es-ES"/>
          </a:p>
        </p:txBody>
      </p:sp>
    </p:spTree>
    <p:extLst>
      <p:ext uri="{BB962C8B-B14F-4D97-AF65-F5344CB8AC3E}">
        <p14:creationId xmlns:p14="http://schemas.microsoft.com/office/powerpoint/2010/main" val="659095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5F47F7-1C05-172E-6901-856337CCF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898BF4A-457E-C6A5-177B-108B0CD27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AA75AD1-DB85-E913-B312-42D7F417E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5EF2E0-2BD0-4A84-91C7-588734871B33}" type="datetimeFigureOut">
              <a:rPr lang="es-ES" smtClean="0"/>
              <a:pPr/>
              <a:t>16/04/2026</a:t>
            </a:fld>
            <a:endParaRPr lang="es-ES"/>
          </a:p>
        </p:txBody>
      </p:sp>
      <p:sp>
        <p:nvSpPr>
          <p:cNvPr id="5" name="Marcador de pie de página 4">
            <a:extLst>
              <a:ext uri="{FF2B5EF4-FFF2-40B4-BE49-F238E27FC236}">
                <a16:creationId xmlns:a16="http://schemas.microsoft.com/office/drawing/2014/main" id="{BBDA7694-E98F-E233-A5C0-42625147B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80DCCF59-1CBC-7AFC-CBEA-4947714C52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0B9171-A153-4759-BF68-B306D62331F2}" type="slidenum">
              <a:rPr lang="es-ES" smtClean="0"/>
              <a:pPr/>
              <a:t>‹Nº›</a:t>
            </a:fld>
            <a:endParaRPr lang="es-ES"/>
          </a:p>
        </p:txBody>
      </p:sp>
    </p:spTree>
    <p:extLst>
      <p:ext uri="{BB962C8B-B14F-4D97-AF65-F5344CB8AC3E}">
        <p14:creationId xmlns:p14="http://schemas.microsoft.com/office/powerpoint/2010/main" val="1359442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5F514-6C41-1780-5DE7-F38843B34F7F}"/>
              </a:ext>
            </a:extLst>
          </p:cNvPr>
          <p:cNvSpPr>
            <a:spLocks noGrp="1"/>
          </p:cNvSpPr>
          <p:nvPr>
            <p:ph type="ctrTitle"/>
          </p:nvPr>
        </p:nvSpPr>
        <p:spPr>
          <a:xfrm>
            <a:off x="1524000" y="3045941"/>
            <a:ext cx="9144000" cy="766118"/>
          </a:xfrm>
        </p:spPr>
        <p:txBody>
          <a:bodyPr>
            <a:normAutofit/>
          </a:bodyPr>
          <a:lstStyle/>
          <a:p>
            <a:r>
              <a:rPr lang="es-ES" sz="4800" b="1" dirty="0">
                <a:solidFill>
                  <a:srgbClr val="FFC000"/>
                </a:solidFill>
                <a:latin typeface="Gill Sans MT" panose="020B0502020104020203" pitchFamily="34" charset="0"/>
              </a:rPr>
              <a:t>ANDY’S ROOM: NO ESCAPE</a:t>
            </a:r>
          </a:p>
        </p:txBody>
      </p:sp>
      <p:sp>
        <p:nvSpPr>
          <p:cNvPr id="3" name="Subtítulo 2">
            <a:extLst>
              <a:ext uri="{FF2B5EF4-FFF2-40B4-BE49-F238E27FC236}">
                <a16:creationId xmlns:a16="http://schemas.microsoft.com/office/drawing/2014/main" id="{8F974359-D1F5-C9DA-1D73-AF084E496226}"/>
              </a:ext>
            </a:extLst>
          </p:cNvPr>
          <p:cNvSpPr>
            <a:spLocks noGrp="1"/>
          </p:cNvSpPr>
          <p:nvPr>
            <p:ph type="subTitle" idx="1"/>
          </p:nvPr>
        </p:nvSpPr>
        <p:spPr>
          <a:xfrm>
            <a:off x="1523999" y="4136803"/>
            <a:ext cx="9144000" cy="426308"/>
          </a:xfrm>
        </p:spPr>
        <p:txBody>
          <a:bodyPr/>
          <a:lstStyle/>
          <a:p>
            <a:r>
              <a:rPr lang="es-ES" dirty="0">
                <a:solidFill>
                  <a:srgbClr val="FFC000"/>
                </a:solidFill>
                <a:latin typeface="Gill Sans MT" panose="020B0502020104020203" pitchFamily="34" charset="0"/>
                <a:cs typeface="Aharoni" panose="020F0502020204030204" pitchFamily="2" charset="-79"/>
              </a:rPr>
              <a:t>La Banda de Patio - 2025/2026</a:t>
            </a:r>
          </a:p>
        </p:txBody>
      </p:sp>
      <p:pic>
        <p:nvPicPr>
          <p:cNvPr id="5" name="Imagen 4">
            <a:extLst>
              <a:ext uri="{FF2B5EF4-FFF2-40B4-BE49-F238E27FC236}">
                <a16:creationId xmlns:a16="http://schemas.microsoft.com/office/drawing/2014/main" id="{FC84B7AF-8D68-129C-1D89-DFC5511E20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2598" y="672233"/>
            <a:ext cx="2806801" cy="2048964"/>
          </a:xfrm>
          <a:prstGeom prst="rect">
            <a:avLst/>
          </a:prstGeom>
        </p:spPr>
      </p:pic>
    </p:spTree>
    <p:extLst>
      <p:ext uri="{BB962C8B-B14F-4D97-AF65-F5344CB8AC3E}">
        <p14:creationId xmlns:p14="http://schemas.microsoft.com/office/powerpoint/2010/main" val="150506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95005-0BEB-485A-DBDB-D5FCCC3DFE87}"/>
              </a:ext>
            </a:extLst>
          </p:cNvPr>
          <p:cNvSpPr>
            <a:spLocks noGrp="1"/>
          </p:cNvSpPr>
          <p:nvPr>
            <p:ph type="title"/>
          </p:nvPr>
        </p:nvSpPr>
        <p:spPr>
          <a:xfrm>
            <a:off x="838200" y="365125"/>
            <a:ext cx="10515600" cy="611059"/>
          </a:xfrm>
        </p:spPr>
        <p:txBody>
          <a:bodyPr>
            <a:normAutofit/>
          </a:bodyPr>
          <a:lstStyle/>
          <a:p>
            <a:r>
              <a:rPr lang="es-ES" sz="2800" b="1" dirty="0">
                <a:solidFill>
                  <a:srgbClr val="FFC000"/>
                </a:solidFill>
                <a:latin typeface="Gill Sans MT" panose="020B0502020104020203" pitchFamily="34" charset="0"/>
              </a:rPr>
              <a:t>1. THE TEAM</a:t>
            </a:r>
          </a:p>
        </p:txBody>
      </p:sp>
      <p:sp>
        <p:nvSpPr>
          <p:cNvPr id="3" name="Marcador de contenido 2">
            <a:extLst>
              <a:ext uri="{FF2B5EF4-FFF2-40B4-BE49-F238E27FC236}">
                <a16:creationId xmlns:a16="http://schemas.microsoft.com/office/drawing/2014/main" id="{D9EFE8A2-8E45-2821-4CEA-228BC305A16C}"/>
              </a:ext>
            </a:extLst>
          </p:cNvPr>
          <p:cNvSpPr>
            <a:spLocks noGrp="1"/>
          </p:cNvSpPr>
          <p:nvPr>
            <p:ph idx="1"/>
          </p:nvPr>
        </p:nvSpPr>
        <p:spPr>
          <a:xfrm>
            <a:off x="915837" y="6218245"/>
            <a:ext cx="2560608" cy="350979"/>
          </a:xfrm>
        </p:spPr>
        <p:txBody>
          <a:bodyPr/>
          <a:lstStyle/>
          <a:p>
            <a:pPr marL="0" indent="0" algn="ctr">
              <a:buNone/>
            </a:pPr>
            <a:r>
              <a:rPr lang="es-ES" sz="1800" dirty="0">
                <a:solidFill>
                  <a:srgbClr val="FFC000"/>
                </a:solidFill>
                <a:latin typeface="Gill Sans MT" panose="020B0502020104020203" pitchFamily="34" charset="0"/>
              </a:rPr>
              <a:t>Nerea Herrero </a:t>
            </a:r>
            <a:r>
              <a:rPr lang="es-ES" sz="1800" dirty="0" err="1">
                <a:solidFill>
                  <a:srgbClr val="FFC000"/>
                </a:solidFill>
                <a:latin typeface="Gill Sans MT" panose="020B0502020104020203" pitchFamily="34" charset="0"/>
              </a:rPr>
              <a:t>Jímenez</a:t>
            </a:r>
            <a:r>
              <a:rPr lang="es-ES" sz="1800" dirty="0">
                <a:solidFill>
                  <a:srgbClr val="FFC000"/>
                </a:solidFill>
                <a:latin typeface="Gill Sans MT" panose="020B0502020104020203" pitchFamily="34" charset="0"/>
              </a:rPr>
              <a:t> -</a:t>
            </a:r>
          </a:p>
          <a:p>
            <a:pPr marL="0" indent="0" algn="ctr">
              <a:buNone/>
            </a:pPr>
            <a:endParaRPr lang="es-ES" sz="1800" dirty="0">
              <a:solidFill>
                <a:srgbClr val="FFC000"/>
              </a:solidFill>
              <a:latin typeface="Gill Sans MT" panose="020B0502020104020203" pitchFamily="34" charset="0"/>
            </a:endParaRPr>
          </a:p>
          <a:p>
            <a:pPr marL="0" indent="0" algn="ctr">
              <a:buNone/>
            </a:pPr>
            <a:endParaRPr lang="es-ES" sz="1800" dirty="0">
              <a:solidFill>
                <a:srgbClr val="FFC000"/>
              </a:solidFill>
              <a:latin typeface="Gill Sans MT" panose="020B0502020104020203" pitchFamily="34" charset="0"/>
            </a:endParaRPr>
          </a:p>
          <a:p>
            <a:pPr marL="0" indent="0">
              <a:buNone/>
            </a:pPr>
            <a:endParaRPr lang="es-ES" dirty="0"/>
          </a:p>
        </p:txBody>
      </p:sp>
      <p:sp>
        <p:nvSpPr>
          <p:cNvPr id="4" name="Marcador de contenido 2">
            <a:extLst>
              <a:ext uri="{FF2B5EF4-FFF2-40B4-BE49-F238E27FC236}">
                <a16:creationId xmlns:a16="http://schemas.microsoft.com/office/drawing/2014/main" id="{1D5E4877-1C15-CEF0-5B8D-068C9929E993}"/>
              </a:ext>
            </a:extLst>
          </p:cNvPr>
          <p:cNvSpPr txBox="1">
            <a:spLocks/>
          </p:cNvSpPr>
          <p:nvPr/>
        </p:nvSpPr>
        <p:spPr>
          <a:xfrm>
            <a:off x="7258842" y="3078021"/>
            <a:ext cx="5202299"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Cristian Rivero </a:t>
            </a:r>
            <a:r>
              <a:rPr lang="en-US" dirty="0" err="1">
                <a:solidFill>
                  <a:srgbClr val="FFC000"/>
                </a:solidFill>
                <a:latin typeface="Gill Sans MT" pitchFamily="34" charset="0"/>
              </a:rPr>
              <a:t>Llacer</a:t>
            </a:r>
            <a:r>
              <a:rPr lang="en-US" dirty="0">
                <a:solidFill>
                  <a:srgbClr val="FFC000"/>
                </a:solidFill>
                <a:latin typeface="Gill Sans MT" pitchFamily="34" charset="0"/>
              </a:rPr>
              <a:t> - </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5" name="Marcador de contenido 2">
            <a:extLst>
              <a:ext uri="{FF2B5EF4-FFF2-40B4-BE49-F238E27FC236}">
                <a16:creationId xmlns:a16="http://schemas.microsoft.com/office/drawing/2014/main" id="{B5117B35-A254-4F61-C278-237A6E96EC25}"/>
              </a:ext>
            </a:extLst>
          </p:cNvPr>
          <p:cNvSpPr txBox="1">
            <a:spLocks/>
          </p:cNvSpPr>
          <p:nvPr/>
        </p:nvSpPr>
        <p:spPr>
          <a:xfrm>
            <a:off x="7630929" y="6218245"/>
            <a:ext cx="2229062" cy="350979"/>
          </a:xfrm>
          <a:prstGeom prst="rect">
            <a:avLst/>
          </a:prstGeom>
        </p:spPr>
        <p:txBody>
          <a:bodyPr vert="horz" lIns="91440" tIns="45720" rIns="91440" bIns="45720" rtlCol="0">
            <a:normAutofit/>
          </a:bodyPr>
          <a:lstStyle/>
          <a:p>
            <a:pPr lvl="0">
              <a:lnSpc>
                <a:spcPct val="90000"/>
              </a:lnSpc>
              <a:spcBef>
                <a:spcPts val="1000"/>
              </a:spcBef>
            </a:pPr>
            <a:r>
              <a:rPr lang="en-US" dirty="0" err="1">
                <a:solidFill>
                  <a:srgbClr val="FFC000"/>
                </a:solidFill>
                <a:latin typeface="Gill Sans MT" pitchFamily="34" charset="0"/>
              </a:rPr>
              <a:t>Xiaowei</a:t>
            </a:r>
            <a:r>
              <a:rPr lang="en-US" dirty="0">
                <a:solidFill>
                  <a:srgbClr val="FFC000"/>
                </a:solidFill>
                <a:latin typeface="Gill Sans MT" pitchFamily="34" charset="0"/>
              </a:rPr>
              <a:t> Hu - </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6" name="Marcador de contenido 2">
            <a:extLst>
              <a:ext uri="{FF2B5EF4-FFF2-40B4-BE49-F238E27FC236}">
                <a16:creationId xmlns:a16="http://schemas.microsoft.com/office/drawing/2014/main" id="{E1D91128-783A-2172-8B0B-8996FF1C1F1D}"/>
              </a:ext>
            </a:extLst>
          </p:cNvPr>
          <p:cNvSpPr txBox="1">
            <a:spLocks/>
          </p:cNvSpPr>
          <p:nvPr/>
        </p:nvSpPr>
        <p:spPr>
          <a:xfrm>
            <a:off x="838200" y="3078021"/>
            <a:ext cx="3120459"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José </a:t>
            </a:r>
            <a:r>
              <a:rPr lang="en-US" dirty="0" err="1">
                <a:solidFill>
                  <a:srgbClr val="FFC000"/>
                </a:solidFill>
                <a:latin typeface="Gill Sans MT" pitchFamily="34" charset="0"/>
              </a:rPr>
              <a:t>Doñate</a:t>
            </a:r>
            <a:r>
              <a:rPr lang="en-US" dirty="0">
                <a:solidFill>
                  <a:srgbClr val="FFC000"/>
                </a:solidFill>
                <a:latin typeface="Gill Sans MT" pitchFamily="34" charset="0"/>
              </a:rPr>
              <a:t> </a:t>
            </a:r>
            <a:r>
              <a:rPr lang="en-US" dirty="0" err="1">
                <a:solidFill>
                  <a:srgbClr val="FFC000"/>
                </a:solidFill>
                <a:latin typeface="Gill Sans MT" pitchFamily="34" charset="0"/>
              </a:rPr>
              <a:t>Maset</a:t>
            </a:r>
            <a:r>
              <a:rPr lang="en-US" dirty="0">
                <a:solidFill>
                  <a:srgbClr val="FFC000"/>
                </a:solidFill>
                <a:latin typeface="Gill Sans MT" pitchFamily="34" charset="0"/>
              </a:rPr>
              <a:t> - </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Tree>
    <p:extLst>
      <p:ext uri="{BB962C8B-B14F-4D97-AF65-F5344CB8AC3E}">
        <p14:creationId xmlns:p14="http://schemas.microsoft.com/office/powerpoint/2010/main" val="1328132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24A773BA-2B78-C774-ACFA-DBF130AEFCC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D3CB09E-F91C-EAFC-4885-8AE8E5A944CA}"/>
              </a:ext>
            </a:extLst>
          </p:cNvPr>
          <p:cNvSpPr>
            <a:spLocks noGrp="1"/>
          </p:cNvSpPr>
          <p:nvPr>
            <p:ph idx="1"/>
          </p:nvPr>
        </p:nvSpPr>
        <p:spPr/>
        <p:txBody>
          <a:bodyPr>
            <a:normAutofit/>
          </a:bodyPr>
          <a:lstStyle/>
          <a:p>
            <a:pPr marL="0" indent="0">
              <a:buNone/>
            </a:pPr>
            <a:r>
              <a:rPr lang="en-US" sz="1800" dirty="0">
                <a:solidFill>
                  <a:srgbClr val="FFC000"/>
                </a:solidFill>
                <a:latin typeface="Gill Sans MT" panose="020B0502020104020203" pitchFamily="34" charset="0"/>
              </a:rPr>
              <a:t>GAMEPLAY EXPERIENCE</a:t>
            </a:r>
          </a:p>
          <a:p>
            <a:pPr marL="0" indent="0">
              <a:buNone/>
            </a:pPr>
            <a:r>
              <a:rPr lang="en-US" sz="1800" dirty="0">
                <a:solidFill>
                  <a:srgbClr val="FFC000"/>
                </a:solidFill>
                <a:latin typeface="Gill Sans MT" panose="020B0502020104020203" pitchFamily="34" charset="0"/>
              </a:rPr>
              <a:t>The game is an FPS based on the film Toy Story and features a cartoony style. You take control of Woody the cowboy to retake control of Andy's room from the evil Buzz Lightyear and his troops. You must use your weapons to fight and defeat Buzz Lightyear’s forces.</a:t>
            </a:r>
          </a:p>
          <a:p>
            <a:pPr marL="0" indent="0">
              <a:buNone/>
            </a:pPr>
            <a:endParaRPr lang="en-US" sz="1800" dirty="0">
              <a:solidFill>
                <a:srgbClr val="FFC000"/>
              </a:solidFill>
              <a:latin typeface="Gill Sans MT" panose="020B0502020104020203" pitchFamily="34" charset="0"/>
            </a:endParaRPr>
          </a:p>
          <a:p>
            <a:pPr marL="0" indent="0">
              <a:buNone/>
            </a:pPr>
            <a:r>
              <a:rPr lang="en-US" sz="1800" dirty="0">
                <a:solidFill>
                  <a:srgbClr val="FFC000"/>
                </a:solidFill>
                <a:latin typeface="Gill Sans MT" panose="020B0502020104020203" pitchFamily="34" charset="0"/>
              </a:rPr>
              <a:t>OBJECTIVES</a:t>
            </a:r>
          </a:p>
          <a:p>
            <a:pPr marL="0" indent="0">
              <a:buNone/>
            </a:pPr>
            <a:r>
              <a:rPr lang="en-US" sz="1800" dirty="0">
                <a:solidFill>
                  <a:srgbClr val="FFC000"/>
                </a:solidFill>
                <a:latin typeface="Gill Sans MT" panose="020B0502020104020203" pitchFamily="34" charset="0"/>
              </a:rPr>
              <a:t>The objective of the game is to defeat waves of enemies. With the coins you earn, you can either buy standard upgrades right away or save up for the bigger ones. You can play as many rounds as you want; the main goal is to score as many points as possible and survive for as long as you can.</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EA8980E6-66DA-473E-6750-21FC4B89554C}"/>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2. GAME CONCEPT</a:t>
            </a:r>
          </a:p>
        </p:txBody>
      </p:sp>
    </p:spTree>
    <p:extLst>
      <p:ext uri="{BB962C8B-B14F-4D97-AF65-F5344CB8AC3E}">
        <p14:creationId xmlns:p14="http://schemas.microsoft.com/office/powerpoint/2010/main" val="4131059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899A4D7-A420-039C-8168-48B0ED8F98D0}"/>
            </a:ext>
          </a:extLst>
        </p:cNvPr>
        <p:cNvGrpSpPr/>
        <p:nvPr/>
      </p:nvGrpSpPr>
      <p:grpSpPr>
        <a:xfrm>
          <a:off x="0" y="0"/>
          <a:ext cx="0" cy="0"/>
          <a:chOff x="0" y="0"/>
          <a:chExt cx="0" cy="0"/>
        </a:xfrm>
      </p:grpSpPr>
      <p:sp>
        <p:nvSpPr>
          <p:cNvPr id="7" name="Marcador de contenido 2">
            <a:extLst>
              <a:ext uri="{FF2B5EF4-FFF2-40B4-BE49-F238E27FC236}">
                <a16:creationId xmlns:a16="http://schemas.microsoft.com/office/drawing/2014/main" id="{3F4ECD46-4AE4-741D-4AE8-E9C737A78B23}"/>
              </a:ext>
            </a:extLst>
          </p:cNvPr>
          <p:cNvSpPr>
            <a:spLocks noGrp="1"/>
          </p:cNvSpPr>
          <p:nvPr>
            <p:ph idx="1"/>
          </p:nvPr>
        </p:nvSpPr>
        <p:spPr>
          <a:xfrm>
            <a:off x="838200" y="1825625"/>
            <a:ext cx="10515600" cy="4351338"/>
          </a:xfrm>
        </p:spPr>
        <p:txBody>
          <a:bodyPr>
            <a:normAutofit/>
          </a:bodyPr>
          <a:lstStyle/>
          <a:p>
            <a:pPr marL="0" indent="0">
              <a:buNone/>
            </a:pPr>
            <a:r>
              <a:rPr lang="en-US" sz="1800" dirty="0">
                <a:solidFill>
                  <a:srgbClr val="FFC000"/>
                </a:solidFill>
                <a:latin typeface="Gill Sans MT" panose="020B0502020104020203" pitchFamily="34" charset="0"/>
              </a:rPr>
              <a:t>SYNOPSIS</a:t>
            </a:r>
          </a:p>
          <a:p>
            <a:pPr marL="0" indent="0">
              <a:buNone/>
            </a:pPr>
            <a:r>
              <a:rPr lang="en-US" sz="1800" dirty="0">
                <a:solidFill>
                  <a:srgbClr val="FFC000"/>
                </a:solidFill>
                <a:latin typeface="Gill Sans MT" panose="020B0502020104020203" pitchFamily="34" charset="0"/>
              </a:rPr>
              <a:t>The narrative of the game is that, in this universe, Buzz Lightyear is evil and wants to take over Andy’s room for his father, Emperor Zurg. Against all odds, our favorite cowboy, Woody, with his hat and all his bravery, tries to defeat Buzz’s army. In the end, Woody cannot defeat Buzz because his army is so vast that a lone cowboy cannot compete against it.</a:t>
            </a:r>
          </a:p>
          <a:p>
            <a:pPr marL="0" indent="0">
              <a:buNone/>
            </a:pPr>
            <a:r>
              <a:rPr lang="en-US" sz="1800" dirty="0">
                <a:solidFill>
                  <a:srgbClr val="FFC000"/>
                </a:solidFill>
                <a:latin typeface="Gill Sans MT" panose="020B0502020104020203" pitchFamily="34" charset="0"/>
              </a:rPr>
              <a:t>STRUCTURE AND PROGRESSION</a:t>
            </a:r>
          </a:p>
          <a:p>
            <a:pPr marL="0" indent="0">
              <a:buNone/>
            </a:pPr>
            <a:r>
              <a:rPr lang="en-US" sz="1800" dirty="0">
                <a:solidFill>
                  <a:srgbClr val="FFC000"/>
                </a:solidFill>
                <a:latin typeface="Gill Sans MT" panose="020B0502020104020203" pitchFamily="34" charset="0"/>
              </a:rPr>
              <a:t>When you kill an enemy, it drops a coin. At the end of each round, there’s a shop where you can buy upgrades for your character. To survive later rounds, you need to choose the upgrades that best suit your playstyle in order to progress through the game and unlock the best weapons.</a:t>
            </a:r>
            <a:endParaRPr lang="es-ES" sz="1800" dirty="0">
              <a:solidFill>
                <a:srgbClr val="FFC000"/>
              </a:solidFill>
              <a:latin typeface="Gill Sans MT" panose="020B0502020104020203" pitchFamily="34" charset="0"/>
            </a:endParaRPr>
          </a:p>
        </p:txBody>
      </p:sp>
      <p:sp>
        <p:nvSpPr>
          <p:cNvPr id="8" name="Título 1">
            <a:extLst>
              <a:ext uri="{FF2B5EF4-FFF2-40B4-BE49-F238E27FC236}">
                <a16:creationId xmlns:a16="http://schemas.microsoft.com/office/drawing/2014/main" id="{636DC092-4FEA-E305-E490-98DE76437CEE}"/>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3. STORYLINE &amp; PROGRESS</a:t>
            </a:r>
          </a:p>
        </p:txBody>
      </p:sp>
    </p:spTree>
    <p:extLst>
      <p:ext uri="{BB962C8B-B14F-4D97-AF65-F5344CB8AC3E}">
        <p14:creationId xmlns:p14="http://schemas.microsoft.com/office/powerpoint/2010/main" val="2514681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5553A77-AD17-0E8D-94FE-A08FA963A3A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512D273-69B6-D40E-3D4E-5990ECE46E2D}"/>
              </a:ext>
            </a:extLst>
          </p:cNvPr>
          <p:cNvSpPr>
            <a:spLocks noGrp="1"/>
          </p:cNvSpPr>
          <p:nvPr>
            <p:ph idx="1"/>
          </p:nvPr>
        </p:nvSpPr>
        <p:spPr/>
        <p:txBody>
          <a:bodyPr>
            <a:normAutofit/>
          </a:bodyPr>
          <a:lstStyle/>
          <a:p>
            <a:pPr marL="0" indent="0">
              <a:buNone/>
            </a:pPr>
            <a:r>
              <a:rPr lang="en-US" sz="1800" dirty="0">
                <a:solidFill>
                  <a:srgbClr val="FFC000"/>
                </a:solidFill>
                <a:latin typeface="Gill Sans MT" panose="020B0502020104020203" pitchFamily="34" charset="0"/>
              </a:rPr>
              <a:t>GENERAL TARGET</a:t>
            </a:r>
          </a:p>
          <a:p>
            <a:pPr marL="0" indent="0">
              <a:buNone/>
            </a:pPr>
            <a:r>
              <a:rPr lang="en-US" sz="1800" dirty="0">
                <a:solidFill>
                  <a:srgbClr val="FFC000"/>
                </a:solidFill>
                <a:latin typeface="Gill Sans MT" panose="020B0502020104020203" pitchFamily="34" charset="0"/>
              </a:rPr>
              <a:t>The game’s main target audience is teenagers and young adults, around the ages of 16–20. It’s a casual experience without complex mechanics. It is aimed at people who enjoy shooters and grew up with Toy Story, and who would like to see a twist on the film.</a:t>
            </a:r>
          </a:p>
          <a:p>
            <a:pPr marL="0" indent="0">
              <a:buNone/>
            </a:pPr>
            <a:endParaRPr lang="en-US" sz="1800" dirty="0">
              <a:solidFill>
                <a:srgbClr val="FFC000"/>
              </a:solidFill>
              <a:latin typeface="Gill Sans MT" panose="020B0502020104020203" pitchFamily="34" charset="0"/>
            </a:endParaRPr>
          </a:p>
          <a:p>
            <a:pPr marL="0" indent="0">
              <a:buNone/>
            </a:pPr>
            <a:r>
              <a:rPr lang="es-ES" sz="1800" dirty="0">
                <a:solidFill>
                  <a:srgbClr val="FFC000"/>
                </a:solidFill>
                <a:latin typeface="Gill Sans MT" panose="020B0502020104020203" pitchFamily="34" charset="0"/>
              </a:rPr>
              <a:t>BARTLE TAXONOMY</a:t>
            </a:r>
          </a:p>
          <a:p>
            <a:pPr marL="0" indent="0">
              <a:buNone/>
            </a:pPr>
            <a:r>
              <a:rPr lang="en-US" sz="1800" dirty="0">
                <a:solidFill>
                  <a:srgbClr val="FFC000"/>
                </a:solidFill>
                <a:latin typeface="Gill Sans MT" panose="020B0502020104020203" pitchFamily="34" charset="0"/>
              </a:rPr>
              <a:t>The two types of players who would enjoy our game are Killers and Achievers. Killers are the primary audience, as the core mechanic revolves around defeating enemies and achieving high scores in each run. Achievers would also enjoy the game, as they are driven by progression through the shop, advancing through rounds, and setting new personal records.</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CF452919-E47E-FC6F-052A-F6DB0B84BDB4}"/>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4. TARGET AUDIENCE</a:t>
            </a:r>
          </a:p>
        </p:txBody>
      </p:sp>
    </p:spTree>
    <p:extLst>
      <p:ext uri="{BB962C8B-B14F-4D97-AF65-F5344CB8AC3E}">
        <p14:creationId xmlns:p14="http://schemas.microsoft.com/office/powerpoint/2010/main" val="324723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D4803B9F-7CB3-6EE7-1F1B-C053A469194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1041154-7956-C27C-ABC7-9A48D8EE569A}"/>
              </a:ext>
            </a:extLst>
          </p:cNvPr>
          <p:cNvSpPr>
            <a:spLocks noGrp="1"/>
          </p:cNvSpPr>
          <p:nvPr>
            <p:ph idx="1"/>
          </p:nvPr>
        </p:nvSpPr>
        <p:spPr/>
        <p:txBody>
          <a:bodyPr>
            <a:normAutofit/>
          </a:bodyPr>
          <a:lstStyle/>
          <a:p>
            <a:pPr marL="0" indent="0">
              <a:buNone/>
            </a:pPr>
            <a:r>
              <a:rPr lang="en-US" sz="1800" dirty="0">
                <a:solidFill>
                  <a:srgbClr val="FFC000"/>
                </a:solidFill>
                <a:latin typeface="Gill Sans MT" panose="020B0502020104020203" pitchFamily="34" charset="0"/>
              </a:rPr>
              <a:t>In terms of mechanical references, the game is wave-based, so the two main inspirations that came to mind were Call of Duty: Zombies and the 2D game Vampire Survivors, as both feature core mechanics centered around waves and upgrades. Call of Duty: Zombies is also a reference because it is an FPS.</a:t>
            </a:r>
          </a:p>
          <a:p>
            <a:pPr marL="0" indent="0">
              <a:buNone/>
            </a:pPr>
            <a:r>
              <a:rPr lang="en-US" sz="1800" dirty="0">
                <a:solidFill>
                  <a:srgbClr val="FFC000"/>
                </a:solidFill>
                <a:latin typeface="Gill Sans MT" panose="020B0502020104020203" pitchFamily="34" charset="0"/>
              </a:rPr>
              <a:t>In terms of thematic references, the main and only one is, as is obvious, the Pixar film Toy Story, which is also reflected in the game.</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3CF84A7F-5BEB-A88A-E5FC-9D56BBED0187}"/>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5. REFERENCES</a:t>
            </a:r>
          </a:p>
        </p:txBody>
      </p:sp>
    </p:spTree>
    <p:extLst>
      <p:ext uri="{BB962C8B-B14F-4D97-AF65-F5344CB8AC3E}">
        <p14:creationId xmlns:p14="http://schemas.microsoft.com/office/powerpoint/2010/main" val="3981620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E779182B-6A5E-87F4-9F7C-8F68D0A6DAE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48FB65-115A-B843-BDEA-D85858583A80}"/>
              </a:ext>
            </a:extLst>
          </p:cNvPr>
          <p:cNvSpPr>
            <a:spLocks noGrp="1"/>
          </p:cNvSpPr>
          <p:nvPr>
            <p:ph idx="1"/>
          </p:nvPr>
        </p:nvSpPr>
        <p:spPr/>
        <p:txBody>
          <a:bodyPr>
            <a:normAutofit/>
          </a:bodyPr>
          <a:lstStyle/>
          <a:p>
            <a:pPr marL="0" indent="0">
              <a:buNone/>
            </a:pPr>
            <a:r>
              <a:rPr lang="es-ES" sz="1800" dirty="0">
                <a:solidFill>
                  <a:srgbClr val="FFC000"/>
                </a:solidFill>
                <a:latin typeface="Gill Sans MT" panose="020B0502020104020203" pitchFamily="34" charset="0"/>
              </a:rPr>
              <a:t>NARRATIVE AND CONCEPT</a:t>
            </a:r>
          </a:p>
          <a:p>
            <a:pPr marL="0" indent="0">
              <a:buNone/>
            </a:pPr>
            <a:r>
              <a:rPr lang="en-US" sz="1800" dirty="0">
                <a:solidFill>
                  <a:srgbClr val="FFC000"/>
                </a:solidFill>
                <a:latin typeface="Gill Sans MT" panose="020B0502020104020203" pitchFamily="34" charset="0"/>
              </a:rPr>
              <a:t>Our protagonist, as previously mentioned, is the cowboy Woody. He is a toy with bright colors, wearing a hat, boots, and a full classic cowboy outfit. His motivation is to defend the other toys, and his goal is to defeat Buzz Lightyear. As seen in the movie, Woody is a toy that was given to Andy and now lives in his room with the other toys.</a:t>
            </a:r>
          </a:p>
          <a:p>
            <a:pPr marL="0" indent="0">
              <a:buNone/>
            </a:pPr>
            <a:r>
              <a:rPr lang="en-US" sz="1800" dirty="0">
                <a:solidFill>
                  <a:srgbClr val="FFC000"/>
                </a:solidFill>
                <a:latin typeface="Gill Sans MT" panose="020B0502020104020203" pitchFamily="34" charset="0"/>
              </a:rPr>
              <a:t>The main appeal of the character is that he comes from a movie and has a lot of personality. He is appealing to most people, but especially to those who grew up with the film.</a:t>
            </a:r>
          </a:p>
          <a:p>
            <a:pPr marL="0" indent="0">
              <a:buNone/>
            </a:pPr>
            <a:endParaRPr lang="en-US" sz="1800" dirty="0">
              <a:solidFill>
                <a:srgbClr val="FFC000"/>
              </a:solidFill>
              <a:latin typeface="Gill Sans MT" panose="020B0502020104020203" pitchFamily="34" charset="0"/>
            </a:endParaRPr>
          </a:p>
          <a:p>
            <a:pPr marL="0" indent="0">
              <a:buNone/>
            </a:pPr>
            <a:r>
              <a:rPr lang="en-US" sz="1800" dirty="0">
                <a:solidFill>
                  <a:srgbClr val="FFC000"/>
                </a:solidFill>
                <a:latin typeface="Gill Sans MT" panose="020B0502020104020203" pitchFamily="34" charset="0"/>
              </a:rPr>
              <a:t>ABILITIES AND MECHANICS</a:t>
            </a:r>
          </a:p>
          <a:p>
            <a:pPr marL="0" indent="0">
              <a:buNone/>
            </a:pPr>
            <a:r>
              <a:rPr lang="en-US" sz="1800" dirty="0">
                <a:solidFill>
                  <a:srgbClr val="FFC000"/>
                </a:solidFill>
                <a:latin typeface="Gill Sans MT" panose="020B0502020104020203" pitchFamily="34" charset="0"/>
              </a:rPr>
              <a:t>The only playable character is Woody, who can move and jump, abilities that can be upgraded in the shop throughout the game loop. He also has access to a variety of weapons, he starts with a simple handgun, but the rest can be unlocked in the shop. These weapons allow you to interact with the environment and NPCs.</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8E3B3F07-511B-4BF5-F194-F6723AFF3EA1}"/>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6. PLAYER CHARACTER</a:t>
            </a:r>
          </a:p>
        </p:txBody>
      </p:sp>
    </p:spTree>
    <p:extLst>
      <p:ext uri="{BB962C8B-B14F-4D97-AF65-F5344CB8AC3E}">
        <p14:creationId xmlns:p14="http://schemas.microsoft.com/office/powerpoint/2010/main" val="4212595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CA49157-BC52-EF4D-969E-BB440D2E1ED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9EE0ED-D959-10DC-64E4-27A916F47B31}"/>
              </a:ext>
            </a:extLst>
          </p:cNvPr>
          <p:cNvSpPr>
            <a:spLocks noGrp="1"/>
          </p:cNvSpPr>
          <p:nvPr>
            <p:ph idx="1"/>
          </p:nvPr>
        </p:nvSpPr>
        <p:spPr/>
        <p:txBody>
          <a:bodyPr>
            <a:normAutofit/>
          </a:bodyPr>
          <a:lstStyle/>
          <a:p>
            <a:pPr marL="0" indent="0">
              <a:buNone/>
            </a:pPr>
            <a:r>
              <a:rPr lang="en-US" sz="1800" dirty="0">
                <a:solidFill>
                  <a:srgbClr val="FFC000"/>
                </a:solidFill>
                <a:latin typeface="Gill Sans MT" panose="020B0502020104020203" pitchFamily="34" charset="0"/>
              </a:rPr>
              <a:t>The game feels a bit unusual because it’s based on a cartoon, and the overall setting and atmosphere follow a cartoon style. However, the gun mechanics and the enemies don’t fully match the theme, and that’s exactly what makes the game so unique. Players can experience a wide range of emotions while playing, such as nostalgia or curiosity about the game and its theme, and how well these elements connect. The scenery and the characters reflect the cartoon style, but they also tie in with the main mechanics.</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D3446023-8612-8A41-CD79-9453E84D4C4B}"/>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7. GAME FEEL</a:t>
            </a:r>
          </a:p>
        </p:txBody>
      </p:sp>
    </p:spTree>
    <p:extLst>
      <p:ext uri="{BB962C8B-B14F-4D97-AF65-F5344CB8AC3E}">
        <p14:creationId xmlns:p14="http://schemas.microsoft.com/office/powerpoint/2010/main" val="140128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A1F8B74-EC74-4420-C5A8-9E4BDC19E12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283E-7F86-E628-50DC-D61F0F2906AA}"/>
              </a:ext>
            </a:extLst>
          </p:cNvPr>
          <p:cNvSpPr>
            <a:spLocks noGrp="1"/>
          </p:cNvSpPr>
          <p:nvPr>
            <p:ph idx="1"/>
          </p:nvPr>
        </p:nvSpPr>
        <p:spPr/>
        <p:txBody>
          <a:bodyPr>
            <a:normAutofit/>
          </a:bodyPr>
          <a:lstStyle/>
          <a:p>
            <a:pPr marL="0" indent="0">
              <a:buNone/>
            </a:pPr>
            <a:r>
              <a:rPr lang="en-US" sz="1800" dirty="0">
                <a:solidFill>
                  <a:srgbClr val="FFC000"/>
                </a:solidFill>
                <a:latin typeface="Gill Sans MT" panose="020B0502020104020203" pitchFamily="34" charset="0"/>
              </a:rPr>
              <a:t>The movement uses the classic WASD controls along with jumping, allowing the character to navigate the map and avoid enemies, which can be defeated using the weapons in your inventory. The mechanics may be simple, but as the rounds progress, you need to make the most of them to survive and handle both movement and combat at the same time to defeat tougher enemies. There are no additional mechanics, so the game is easy to understand and not too complicated for most players.</a:t>
            </a:r>
            <a:endParaRPr lang="es-ES" sz="1800" dirty="0">
              <a:solidFill>
                <a:srgbClr val="FFC000"/>
              </a:solidFill>
              <a:latin typeface="Gill Sans MT" panose="020B0502020104020203" pitchFamily="34" charset="0"/>
            </a:endParaRPr>
          </a:p>
        </p:txBody>
      </p:sp>
      <p:sp>
        <p:nvSpPr>
          <p:cNvPr id="4" name="Título 1">
            <a:extLst>
              <a:ext uri="{FF2B5EF4-FFF2-40B4-BE49-F238E27FC236}">
                <a16:creationId xmlns:a16="http://schemas.microsoft.com/office/drawing/2014/main" id="{765301A3-7ABB-AE4E-BB71-33FB6EFA5439}"/>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8. GAME MECHANICS</a:t>
            </a:r>
          </a:p>
        </p:txBody>
      </p:sp>
    </p:spTree>
    <p:extLst>
      <p:ext uri="{BB962C8B-B14F-4D97-AF65-F5344CB8AC3E}">
        <p14:creationId xmlns:p14="http://schemas.microsoft.com/office/powerpoint/2010/main" val="47869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2A36485-FB00-5367-DF04-4C265B917F4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ED5603B-A909-51C1-3C72-B93DFCD57B3E}"/>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9. GAME ENTITIES</a:t>
            </a:r>
          </a:p>
        </p:txBody>
      </p:sp>
      <p:sp>
        <p:nvSpPr>
          <p:cNvPr id="5" name="Marcador de contenido 2">
            <a:extLst>
              <a:ext uri="{FF2B5EF4-FFF2-40B4-BE49-F238E27FC236}">
                <a16:creationId xmlns:a16="http://schemas.microsoft.com/office/drawing/2014/main" id="{FA6A283E-7F86-E628-50DC-D61F0F2906AA}"/>
              </a:ext>
            </a:extLst>
          </p:cNvPr>
          <p:cNvSpPr txBox="1">
            <a:spLocks/>
          </p:cNvSpPr>
          <p:nvPr/>
        </p:nvSpPr>
        <p:spPr>
          <a:xfrm>
            <a:off x="800478" y="1706421"/>
            <a:ext cx="10515600" cy="4351338"/>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The player has three types of interactions: positive interactions when collecting coins dropped by defeated enemies, negative interactions with enemies (when they detect you, they shoot at you), and neutral interactions, such as the shop at the end of each round where you can buy upgrades or heal yourself.</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Tree>
    <p:extLst>
      <p:ext uri="{BB962C8B-B14F-4D97-AF65-F5344CB8AC3E}">
        <p14:creationId xmlns:p14="http://schemas.microsoft.com/office/powerpoint/2010/main" val="18587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193BDC37-9479-4F67-E102-8701A5F9B986}"/>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295CB4F-5170-2748-11F7-DEF2C8C33788}"/>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solidFill>
                  <a:srgbClr val="FFC000"/>
                </a:solidFill>
                <a:latin typeface="Gill Sans MT" panose="020B0502020104020203" pitchFamily="34" charset="0"/>
              </a:rPr>
              <a:t>10. GAME FLOW</a:t>
            </a:r>
          </a:p>
        </p:txBody>
      </p:sp>
      <p:sp>
        <p:nvSpPr>
          <p:cNvPr id="5" name="Marcador de contenido 2">
            <a:extLst>
              <a:ext uri="{FF2B5EF4-FFF2-40B4-BE49-F238E27FC236}">
                <a16:creationId xmlns:a16="http://schemas.microsoft.com/office/drawing/2014/main" id="{FA6A283E-7F86-E628-50DC-D61F0F2906AA}"/>
              </a:ext>
            </a:extLst>
          </p:cNvPr>
          <p:cNvSpPr txBox="1">
            <a:spLocks/>
          </p:cNvSpPr>
          <p:nvPr/>
        </p:nvSpPr>
        <p:spPr>
          <a:xfrm>
            <a:off x="800478" y="1706421"/>
            <a:ext cx="10515600" cy="4351338"/>
          </a:xfrm>
          <a:prstGeom prst="rect">
            <a:avLst/>
          </a:prstGeom>
        </p:spPr>
        <p:txBody>
          <a:bodyPr vert="horz" lIns="91440" tIns="45720" rIns="91440" bIns="45720" rtlCol="0">
            <a:normAutofit/>
          </a:bodyPr>
          <a:lstStyle/>
          <a:p>
            <a:r>
              <a:rPr lang="en-US" b="1" dirty="0">
                <a:solidFill>
                  <a:srgbClr val="FFC000"/>
                </a:solidFill>
              </a:rPr>
              <a:t>CORE GAME LOOP</a:t>
            </a:r>
            <a:br>
              <a:rPr lang="en-US" dirty="0">
                <a:solidFill>
                  <a:srgbClr val="FFC000"/>
                </a:solidFill>
              </a:rPr>
            </a:br>
            <a:r>
              <a:rPr lang="en-US" dirty="0">
                <a:solidFill>
                  <a:srgbClr val="FFC000"/>
                </a:solidFill>
              </a:rPr>
              <a:t>The core gameplay loop is based on rounds. The player must survive each round, then buy upgrades before the next one begins. Each new round becomes more difficult, but the player also becomes stronger, continuing this cycle until they die and the loop restarts.</a:t>
            </a:r>
          </a:p>
          <a:p>
            <a:r>
              <a:rPr lang="en-US" b="1" dirty="0">
                <a:solidFill>
                  <a:srgbClr val="FFC000"/>
                </a:solidFill>
              </a:rPr>
              <a:t>FLOW PILLARS</a:t>
            </a:r>
            <a:br>
              <a:rPr lang="en-US" dirty="0">
                <a:solidFill>
                  <a:srgbClr val="FFC000"/>
                </a:solidFill>
              </a:rPr>
            </a:br>
            <a:r>
              <a:rPr lang="en-US" dirty="0">
                <a:solidFill>
                  <a:srgbClr val="FFC000"/>
                </a:solidFill>
              </a:rPr>
              <a:t>When you survive a round, there is a clear indicator showing that the round has ended, along with a timer for the next one. Conversely, when you receive damage, there are visual and sound effects to provide feedback. When you die, the game transitions to a loss screen. Upon </a:t>
            </a:r>
            <a:r>
              <a:rPr lang="en-US" dirty="0" err="1">
                <a:solidFill>
                  <a:srgbClr val="FFC000"/>
                </a:solidFill>
              </a:rPr>
              <a:t>respawning</a:t>
            </a:r>
            <a:r>
              <a:rPr lang="en-US" dirty="0">
                <a:solidFill>
                  <a:srgbClr val="FFC000"/>
                </a:solidFill>
              </a:rPr>
              <a:t>, the game shows all enemies at the bottom of the screen along with a message prompting you to defeat them. The game becomes progressively more difficult as each round passes, creating a challenge for the player to survive longer or experiment with new strategies to beat the game.</a:t>
            </a:r>
          </a:p>
        </p:txBody>
      </p:sp>
    </p:spTree>
    <p:extLst>
      <p:ext uri="{BB962C8B-B14F-4D97-AF65-F5344CB8AC3E}">
        <p14:creationId xmlns:p14="http://schemas.microsoft.com/office/powerpoint/2010/main" val="135303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1301DE72-7C4F-117A-1D3E-311D0F7C4CB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CEE3DAED-9889-0288-FA79-83BD335638A4}"/>
              </a:ext>
            </a:extLst>
          </p:cNvPr>
          <p:cNvSpPr txBox="1">
            <a:spLocks/>
          </p:cNvSpPr>
          <p:nvPr/>
        </p:nvSpPr>
        <p:spPr>
          <a:xfrm>
            <a:off x="838200" y="365125"/>
            <a:ext cx="10515600" cy="6110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solidFill>
                  <a:srgbClr val="FFC000"/>
                </a:solidFill>
                <a:latin typeface="Gill Sans MT" panose="020B0502020104020203" pitchFamily="34" charset="0"/>
              </a:rPr>
              <a:t>11. UI / UX CONCEPT &amp; HUD</a:t>
            </a:r>
            <a:endParaRPr lang="es-ES" sz="2800" b="1" dirty="0">
              <a:solidFill>
                <a:srgbClr val="FFC000"/>
              </a:solidFill>
              <a:latin typeface="Gill Sans MT" panose="020B0502020104020203" pitchFamily="34" charset="0"/>
            </a:endParaRPr>
          </a:p>
        </p:txBody>
      </p:sp>
      <p:pic>
        <p:nvPicPr>
          <p:cNvPr id="5" name="Imagen 4" descr="Imagen que contiene interior, tabla, pequeño, hombre&#10;&#10;El contenido generado por IA puede ser incorrecto.">
            <a:extLst>
              <a:ext uri="{FF2B5EF4-FFF2-40B4-BE49-F238E27FC236}">
                <a16:creationId xmlns:a16="http://schemas.microsoft.com/office/drawing/2014/main" id="{018DEE06-3F20-283E-1931-437F8F5DC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938233"/>
            <a:ext cx="9368287" cy="4554642"/>
          </a:xfrm>
          <a:prstGeom prst="rect">
            <a:avLst/>
          </a:prstGeom>
        </p:spPr>
      </p:pic>
      <p:sp>
        <p:nvSpPr>
          <p:cNvPr id="6" name="Marcador de contenido 2">
            <a:extLst>
              <a:ext uri="{FF2B5EF4-FFF2-40B4-BE49-F238E27FC236}">
                <a16:creationId xmlns:a16="http://schemas.microsoft.com/office/drawing/2014/main" id="{552BA8FD-B167-F08F-4546-0499787427A6}"/>
              </a:ext>
            </a:extLst>
          </p:cNvPr>
          <p:cNvSpPr txBox="1">
            <a:spLocks/>
          </p:cNvSpPr>
          <p:nvPr/>
        </p:nvSpPr>
        <p:spPr>
          <a:xfrm>
            <a:off x="774829" y="976184"/>
            <a:ext cx="9431658" cy="2143203"/>
          </a:xfrm>
          <a:prstGeom prst="rect">
            <a:avLst/>
          </a:prstGeom>
        </p:spPr>
        <p:txBody>
          <a:bodyPr vert="horz" lIns="91440" tIns="45720" rIns="91440" bIns="45720" rtlCol="0">
            <a:normAutofit/>
          </a:bodyPr>
          <a:lstStyle/>
          <a:p>
            <a:pPr lvl="0">
              <a:lnSpc>
                <a:spcPct val="90000"/>
              </a:lnSpc>
              <a:spcBef>
                <a:spcPts val="1000"/>
              </a:spcBef>
            </a:pPr>
            <a:r>
              <a:rPr lang="en-US" sz="1800" dirty="0">
                <a:solidFill>
                  <a:srgbClr val="FFC000"/>
                </a:solidFill>
                <a:latin typeface="Gill Sans MT" pitchFamily="34" charset="0"/>
              </a:rPr>
              <a:t>MAIN MENU OF THE GAME</a:t>
            </a:r>
            <a:r>
              <a:rPr kumimoji="0" lang="en-US" sz="1800" b="0" i="0" u="none" strike="noStrike" kern="1200" cap="none" spc="0" normalizeH="0" baseline="0" noProof="0" dirty="0">
                <a:ln>
                  <a:noFill/>
                </a:ln>
                <a:solidFill>
                  <a:srgbClr val="FFC000"/>
                </a:solidFill>
                <a:effectLst/>
                <a:uLnTx/>
                <a:uFillTx/>
                <a:latin typeface="Gill Sans MT" pitchFamily="34" charset="0"/>
              </a:rPr>
              <a:t>: it </a:t>
            </a:r>
            <a:r>
              <a:rPr lang="en-US" dirty="0">
                <a:solidFill>
                  <a:srgbClr val="FFC000"/>
                </a:solidFill>
                <a:latin typeface="Gill Sans MT" pitchFamily="34" charset="0"/>
              </a:rPr>
              <a:t>has the buttons and a background with woody and the name of the game. The buttons are: play, exit and above at the right the settings (where you can adjust the volume or mute it completely, sensibility and toggle full screen).</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7" name="Marcador de contenido 2">
            <a:extLst>
              <a:ext uri="{FF2B5EF4-FFF2-40B4-BE49-F238E27FC236}">
                <a16:creationId xmlns:a16="http://schemas.microsoft.com/office/drawing/2014/main" id="{1DB1A02A-07D1-EE9E-683C-10E804F70093}"/>
              </a:ext>
            </a:extLst>
          </p:cNvPr>
          <p:cNvSpPr txBox="1">
            <a:spLocks/>
          </p:cNvSpPr>
          <p:nvPr/>
        </p:nvSpPr>
        <p:spPr>
          <a:xfrm>
            <a:off x="1515378" y="3730446"/>
            <a:ext cx="6173346" cy="350979"/>
          </a:xfrm>
          <a:prstGeom prst="rect">
            <a:avLst/>
          </a:prstGeom>
        </p:spPr>
        <p:txBody>
          <a:bodyPr vert="horz" lIns="91440" tIns="45720" rIns="91440" bIns="45720" rtlCol="0">
            <a:normAutofit/>
          </a:bodyPr>
          <a:lstStyle/>
          <a:p>
            <a:pPr lvl="0">
              <a:lnSpc>
                <a:spcPct val="90000"/>
              </a:lnSpc>
              <a:spcBef>
                <a:spcPts val="1000"/>
              </a:spcBef>
            </a:pPr>
            <a:r>
              <a:rPr kumimoji="0" lang="es-ES" sz="1800" b="0" i="0" u="none" strike="noStrike" kern="1200" cap="none" spc="0" normalizeH="0" baseline="0" noProof="0" dirty="0" err="1">
                <a:ln>
                  <a:noFill/>
                </a:ln>
                <a:solidFill>
                  <a:srgbClr val="FFC000"/>
                </a:solidFill>
                <a:effectLst/>
                <a:uLnTx/>
                <a:uFillTx/>
                <a:latin typeface="Gill Sans MT" pitchFamily="34" charset="0"/>
              </a:rPr>
              <a:t>The</a:t>
            </a:r>
            <a:r>
              <a:rPr kumimoji="0" lang="es-ES" sz="1800" b="0" i="0" u="none" strike="noStrike" kern="1200" cap="none" spc="0" normalizeH="0" baseline="0" noProof="0" dirty="0">
                <a:ln>
                  <a:noFill/>
                </a:ln>
                <a:solidFill>
                  <a:srgbClr val="FFC000"/>
                </a:solidFill>
                <a:effectLst/>
                <a:uLnTx/>
                <a:uFillTx/>
                <a:latin typeface="Gill Sans MT" pitchFamily="34" charset="0"/>
              </a:rPr>
              <a:t> store: </a:t>
            </a:r>
            <a:r>
              <a:rPr kumimoji="0" lang="es-ES" sz="1800" b="0" i="0" u="none" strike="noStrike" kern="1200" cap="none" spc="0" normalizeH="0" baseline="0" noProof="0" dirty="0" err="1">
                <a:ln>
                  <a:noFill/>
                </a:ln>
                <a:solidFill>
                  <a:srgbClr val="FFC000"/>
                </a:solidFill>
                <a:effectLst/>
                <a:uLnTx/>
                <a:uFillTx/>
                <a:latin typeface="Gill Sans MT" pitchFamily="34" charset="0"/>
              </a:rPr>
              <a:t>it</a:t>
            </a:r>
            <a:r>
              <a:rPr kumimoji="0" lang="es-ES" sz="1800" b="0" i="0" u="none" strike="noStrike" kern="1200" cap="none" spc="0" normalizeH="0" baseline="0" noProof="0" dirty="0">
                <a:ln>
                  <a:noFill/>
                </a:ln>
                <a:solidFill>
                  <a:srgbClr val="FFC000"/>
                </a:solidFill>
                <a:effectLst/>
                <a:uLnTx/>
                <a:uFillTx/>
                <a:latin typeface="Gill Sans MT" pitchFamily="34" charset="0"/>
              </a:rPr>
              <a:t> has </a:t>
            </a:r>
            <a:r>
              <a:rPr kumimoji="0" lang="es-ES" sz="1800" b="0" i="0" u="none" strike="noStrike" kern="1200" cap="none" spc="0" normalizeH="0" baseline="0" noProof="0" dirty="0" err="1">
                <a:ln>
                  <a:noFill/>
                </a:ln>
                <a:solidFill>
                  <a:srgbClr val="FFC000"/>
                </a:solidFill>
                <a:effectLst/>
                <a:uLnTx/>
                <a:uFillTx/>
                <a:latin typeface="Gill Sans MT" pitchFamily="34" charset="0"/>
              </a:rPr>
              <a:t>multiple</a:t>
            </a:r>
            <a:r>
              <a:rPr kumimoji="0" lang="es-ES" sz="1800" b="0" i="0" u="none" strike="noStrike" kern="1200" cap="none" spc="0" normalizeH="0" baseline="0" noProof="0" dirty="0">
                <a:ln>
                  <a:noFill/>
                </a:ln>
                <a:solidFill>
                  <a:srgbClr val="FFC000"/>
                </a:solidFill>
                <a:effectLst/>
                <a:uLnTx/>
                <a:uFillTx/>
                <a:latin typeface="Gill Sans MT" pitchFamily="34" charset="0"/>
              </a:rPr>
              <a:t> </a:t>
            </a:r>
            <a:r>
              <a:rPr kumimoji="0" lang="es-ES" sz="1800" b="0" i="0" u="none" strike="noStrike" kern="1200" cap="none" spc="0" normalizeH="0" baseline="0" noProof="0" dirty="0" err="1">
                <a:ln>
                  <a:noFill/>
                </a:ln>
                <a:solidFill>
                  <a:srgbClr val="FFC000"/>
                </a:solidFill>
                <a:effectLst/>
                <a:uLnTx/>
                <a:uFillTx/>
                <a:latin typeface="Gill Sans MT" pitchFamily="34" charset="0"/>
              </a:rPr>
              <a:t>options</a:t>
            </a:r>
            <a:r>
              <a:rPr kumimoji="0" lang="es-ES" sz="1800" b="0" i="0" u="none" strike="noStrike" kern="1200" cap="none" spc="0" normalizeH="0" baseline="0" noProof="0" dirty="0">
                <a:ln>
                  <a:noFill/>
                </a:ln>
                <a:solidFill>
                  <a:srgbClr val="FFC000"/>
                </a:solidFill>
                <a:effectLst/>
                <a:uLnTx/>
                <a:uFillTx/>
                <a:latin typeface="Gill Sans MT" pitchFamily="34" charset="0"/>
              </a:rPr>
              <a:t> </a:t>
            </a:r>
            <a:r>
              <a:rPr kumimoji="0" lang="es-ES" sz="1800" b="0" i="0" u="none" strike="noStrike" kern="1200" cap="none" spc="0" normalizeH="0" baseline="0" noProof="0" dirty="0" err="1">
                <a:ln>
                  <a:noFill/>
                </a:ln>
                <a:solidFill>
                  <a:srgbClr val="FFC000"/>
                </a:solidFill>
                <a:effectLst/>
                <a:uLnTx/>
                <a:uFillTx/>
                <a:latin typeface="Gill Sans MT" pitchFamily="34" charset="0"/>
              </a:rPr>
              <a:t>for</a:t>
            </a:r>
            <a:r>
              <a:rPr kumimoji="0" lang="es-ES" sz="1800" b="0" i="0" u="none" strike="noStrike" kern="1200" cap="none" spc="0" normalizeH="0" baseline="0" noProof="0" dirty="0">
                <a:ln>
                  <a:noFill/>
                </a:ln>
                <a:solidFill>
                  <a:srgbClr val="FFC000"/>
                </a:solidFill>
                <a:effectLst/>
                <a:uLnTx/>
                <a:uFillTx/>
                <a:latin typeface="Gill Sans MT" pitchFamily="34" charset="0"/>
              </a:rPr>
              <a:t> </a:t>
            </a:r>
            <a:r>
              <a:rPr kumimoji="0" lang="es-ES" sz="1800" b="0" i="0" u="none" strike="noStrike" kern="1200" cap="none" spc="0" normalizeH="0" baseline="0" noProof="0" dirty="0" err="1">
                <a:ln>
                  <a:noFill/>
                </a:ln>
                <a:solidFill>
                  <a:srgbClr val="FFC000"/>
                </a:solidFill>
                <a:effectLst/>
                <a:uLnTx/>
                <a:uFillTx/>
                <a:latin typeface="Gill Sans MT" pitchFamily="34" charset="0"/>
              </a:rPr>
              <a:t>upgrading</a:t>
            </a:r>
            <a:r>
              <a:rPr kumimoji="0" lang="es-ES" sz="1800" b="0" i="0" u="none" strike="noStrike" kern="1200" cap="none" spc="0" normalizeH="0" baseline="0" noProof="0" dirty="0">
                <a:ln>
                  <a:noFill/>
                </a:ln>
                <a:solidFill>
                  <a:srgbClr val="FFC000"/>
                </a:solidFill>
                <a:effectLst/>
                <a:uLnTx/>
                <a:uFillTx/>
                <a:latin typeface="Gill Sans MT" pitchFamily="34" charset="0"/>
              </a:rPr>
              <a:t>  </a:t>
            </a:r>
          </a:p>
        </p:txBody>
      </p:sp>
    </p:spTree>
    <p:extLst>
      <p:ext uri="{BB962C8B-B14F-4D97-AF65-F5344CB8AC3E}">
        <p14:creationId xmlns:p14="http://schemas.microsoft.com/office/powerpoint/2010/main" val="1357774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1301DE72-7C4F-117A-1D3E-311D0F7C4CBE}"/>
            </a:ext>
          </a:extLst>
        </p:cNvPr>
        <p:cNvGrpSpPr/>
        <p:nvPr/>
      </p:nvGrpSpPr>
      <p:grpSpPr>
        <a:xfrm>
          <a:off x="0" y="0"/>
          <a:ext cx="0" cy="0"/>
          <a:chOff x="0" y="0"/>
          <a:chExt cx="0" cy="0"/>
        </a:xfrm>
      </p:grpSpPr>
      <p:sp>
        <p:nvSpPr>
          <p:cNvPr id="10" name="Marcador de contenido 2">
            <a:extLst>
              <a:ext uri="{FF2B5EF4-FFF2-40B4-BE49-F238E27FC236}">
                <a16:creationId xmlns:a16="http://schemas.microsoft.com/office/drawing/2014/main" id="{2E5D558B-70D9-42C5-E6AE-1B50952B3498}"/>
              </a:ext>
            </a:extLst>
          </p:cNvPr>
          <p:cNvSpPr txBox="1">
            <a:spLocks/>
          </p:cNvSpPr>
          <p:nvPr/>
        </p:nvSpPr>
        <p:spPr>
          <a:xfrm>
            <a:off x="1732534" y="5593684"/>
            <a:ext cx="5850258"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Gun: there multiple ones in the game and each is shown here</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2" name="Marcador de contenido 2">
            <a:extLst>
              <a:ext uri="{FF2B5EF4-FFF2-40B4-BE49-F238E27FC236}">
                <a16:creationId xmlns:a16="http://schemas.microsoft.com/office/drawing/2014/main" id="{A8F132AA-9CD3-3853-D857-B95377A56511}"/>
              </a:ext>
            </a:extLst>
          </p:cNvPr>
          <p:cNvSpPr txBox="1">
            <a:spLocks/>
          </p:cNvSpPr>
          <p:nvPr/>
        </p:nvSpPr>
        <p:spPr>
          <a:xfrm>
            <a:off x="1459824" y="5086307"/>
            <a:ext cx="1784226"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The bar of health</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3" name="Marcador de contenido 2">
            <a:extLst>
              <a:ext uri="{FF2B5EF4-FFF2-40B4-BE49-F238E27FC236}">
                <a16:creationId xmlns:a16="http://schemas.microsoft.com/office/drawing/2014/main" id="{6416C8B6-6809-7D28-F6E0-5EB0EADCB954}"/>
              </a:ext>
            </a:extLst>
          </p:cNvPr>
          <p:cNvSpPr txBox="1">
            <a:spLocks/>
          </p:cNvSpPr>
          <p:nvPr/>
        </p:nvSpPr>
        <p:spPr>
          <a:xfrm>
            <a:off x="4174614" y="4578930"/>
            <a:ext cx="2217042"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The amount of ammo</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4" name="Marcador de contenido 2">
            <a:extLst>
              <a:ext uri="{FF2B5EF4-FFF2-40B4-BE49-F238E27FC236}">
                <a16:creationId xmlns:a16="http://schemas.microsoft.com/office/drawing/2014/main" id="{869CC388-5C06-7B9E-848E-FC46610B602D}"/>
              </a:ext>
            </a:extLst>
          </p:cNvPr>
          <p:cNvSpPr txBox="1">
            <a:spLocks/>
          </p:cNvSpPr>
          <p:nvPr/>
        </p:nvSpPr>
        <p:spPr>
          <a:xfrm>
            <a:off x="6741030" y="4578930"/>
            <a:ext cx="1397130" cy="350979"/>
          </a:xfrm>
          <a:prstGeom prst="rect">
            <a:avLst/>
          </a:prstGeom>
        </p:spPr>
        <p:txBody>
          <a:bodyPr vert="horz" lIns="91440" tIns="45720" rIns="91440" bIns="45720" rtlCol="0">
            <a:normAutofit/>
          </a:bodyPr>
          <a:lstStyle/>
          <a:p>
            <a:pPr lvl="0">
              <a:lnSpc>
                <a:spcPct val="90000"/>
              </a:lnSpc>
              <a:spcBef>
                <a:spcPts val="1000"/>
              </a:spcBef>
            </a:pPr>
            <a:r>
              <a:rPr kumimoji="0" lang="es-ES" sz="1800" b="0" i="0" u="none" strike="noStrike" kern="1200" cap="none" spc="0" normalizeH="0" baseline="0" noProof="0" dirty="0" err="1">
                <a:ln>
                  <a:noFill/>
                </a:ln>
                <a:solidFill>
                  <a:srgbClr val="FFC000"/>
                </a:solidFill>
                <a:effectLst/>
                <a:uLnTx/>
                <a:uFillTx/>
                <a:latin typeface="Gill Sans MT" pitchFamily="34" charset="0"/>
              </a:rPr>
              <a:t>The</a:t>
            </a:r>
            <a:r>
              <a:rPr kumimoji="0" lang="es-ES" sz="1800" b="0" i="0" u="none" strike="noStrike" kern="1200" cap="none" spc="0" normalizeH="0" baseline="0" noProof="0" dirty="0">
                <a:ln>
                  <a:noFill/>
                </a:ln>
                <a:solidFill>
                  <a:srgbClr val="FFC000"/>
                </a:solidFill>
                <a:effectLst/>
                <a:uLnTx/>
                <a:uFillTx/>
                <a:latin typeface="Gill Sans MT" pitchFamily="34" charset="0"/>
              </a:rPr>
              <a:t> </a:t>
            </a:r>
            <a:r>
              <a:rPr kumimoji="0" lang="es-ES" sz="1800" b="0" i="0" u="none" strike="noStrike" kern="1200" cap="none" spc="0" normalizeH="0" baseline="0" noProof="0" dirty="0" err="1">
                <a:ln>
                  <a:noFill/>
                </a:ln>
                <a:solidFill>
                  <a:srgbClr val="FFC000"/>
                </a:solidFill>
                <a:effectLst/>
                <a:uLnTx/>
                <a:uFillTx/>
                <a:latin typeface="Gill Sans MT" pitchFamily="34" charset="0"/>
              </a:rPr>
              <a:t>enemies</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pic>
        <p:nvPicPr>
          <p:cNvPr id="6" name="Imagen 5" descr="Imagen que contiene edificio, vista, luz, tabla&#10;&#10;El contenido generado por IA puede ser incorrecto.">
            <a:extLst>
              <a:ext uri="{FF2B5EF4-FFF2-40B4-BE49-F238E27FC236}">
                <a16:creationId xmlns:a16="http://schemas.microsoft.com/office/drawing/2014/main" id="{B417FCA3-CCA7-CE8F-52A2-E9151959E0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0863" y="236431"/>
            <a:ext cx="7751286" cy="4342499"/>
          </a:xfrm>
          <a:prstGeom prst="rect">
            <a:avLst/>
          </a:prstGeom>
        </p:spPr>
      </p:pic>
    </p:spTree>
    <p:extLst>
      <p:ext uri="{BB962C8B-B14F-4D97-AF65-F5344CB8AC3E}">
        <p14:creationId xmlns:p14="http://schemas.microsoft.com/office/powerpoint/2010/main" val="2447794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1301DE72-7C4F-117A-1D3E-311D0F7C4CBE}"/>
            </a:ext>
          </a:extLst>
        </p:cNvPr>
        <p:cNvGrpSpPr/>
        <p:nvPr/>
      </p:nvGrpSpPr>
      <p:grpSpPr>
        <a:xfrm>
          <a:off x="0" y="0"/>
          <a:ext cx="0" cy="0"/>
          <a:chOff x="0" y="0"/>
          <a:chExt cx="0" cy="0"/>
        </a:xfrm>
      </p:grpSpPr>
      <p:sp>
        <p:nvSpPr>
          <p:cNvPr id="10" name="Marcador de contenido 2">
            <a:extLst>
              <a:ext uri="{FF2B5EF4-FFF2-40B4-BE49-F238E27FC236}">
                <a16:creationId xmlns:a16="http://schemas.microsoft.com/office/drawing/2014/main" id="{2E5D558B-70D9-42C5-E6AE-1B50952B3498}"/>
              </a:ext>
            </a:extLst>
          </p:cNvPr>
          <p:cNvSpPr txBox="1">
            <a:spLocks/>
          </p:cNvSpPr>
          <p:nvPr/>
        </p:nvSpPr>
        <p:spPr>
          <a:xfrm>
            <a:off x="1732534" y="5593684"/>
            <a:ext cx="5850258"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Gun: there multiple ones in the game and each is shown here</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2" name="Marcador de contenido 2">
            <a:extLst>
              <a:ext uri="{FF2B5EF4-FFF2-40B4-BE49-F238E27FC236}">
                <a16:creationId xmlns:a16="http://schemas.microsoft.com/office/drawing/2014/main" id="{A8F132AA-9CD3-3853-D857-B95377A56511}"/>
              </a:ext>
            </a:extLst>
          </p:cNvPr>
          <p:cNvSpPr txBox="1">
            <a:spLocks/>
          </p:cNvSpPr>
          <p:nvPr/>
        </p:nvSpPr>
        <p:spPr>
          <a:xfrm>
            <a:off x="1459824" y="5086307"/>
            <a:ext cx="1784226"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The bar of health</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3" name="Marcador de contenido 2">
            <a:extLst>
              <a:ext uri="{FF2B5EF4-FFF2-40B4-BE49-F238E27FC236}">
                <a16:creationId xmlns:a16="http://schemas.microsoft.com/office/drawing/2014/main" id="{6416C8B6-6809-7D28-F6E0-5EB0EADCB954}"/>
              </a:ext>
            </a:extLst>
          </p:cNvPr>
          <p:cNvSpPr txBox="1">
            <a:spLocks/>
          </p:cNvSpPr>
          <p:nvPr/>
        </p:nvSpPr>
        <p:spPr>
          <a:xfrm>
            <a:off x="4174614" y="4578930"/>
            <a:ext cx="2217042" cy="350979"/>
          </a:xfrm>
          <a:prstGeom prst="rect">
            <a:avLst/>
          </a:prstGeom>
        </p:spPr>
        <p:txBody>
          <a:bodyPr vert="horz" lIns="91440" tIns="45720" rIns="91440" bIns="45720" rtlCol="0">
            <a:normAutofit/>
          </a:bodyPr>
          <a:lstStyle/>
          <a:p>
            <a:pPr lvl="0">
              <a:lnSpc>
                <a:spcPct val="90000"/>
              </a:lnSpc>
              <a:spcBef>
                <a:spcPts val="1000"/>
              </a:spcBef>
            </a:pPr>
            <a:r>
              <a:rPr lang="en-US" dirty="0">
                <a:solidFill>
                  <a:srgbClr val="FFC000"/>
                </a:solidFill>
                <a:latin typeface="Gill Sans MT" pitchFamily="34" charset="0"/>
              </a:rPr>
              <a:t>The amount of ammo</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sp>
        <p:nvSpPr>
          <p:cNvPr id="14" name="Marcador de contenido 2">
            <a:extLst>
              <a:ext uri="{FF2B5EF4-FFF2-40B4-BE49-F238E27FC236}">
                <a16:creationId xmlns:a16="http://schemas.microsoft.com/office/drawing/2014/main" id="{869CC388-5C06-7B9E-848E-FC46610B602D}"/>
              </a:ext>
            </a:extLst>
          </p:cNvPr>
          <p:cNvSpPr txBox="1">
            <a:spLocks/>
          </p:cNvSpPr>
          <p:nvPr/>
        </p:nvSpPr>
        <p:spPr>
          <a:xfrm>
            <a:off x="6741030" y="4578930"/>
            <a:ext cx="1397130" cy="350979"/>
          </a:xfrm>
          <a:prstGeom prst="rect">
            <a:avLst/>
          </a:prstGeom>
        </p:spPr>
        <p:txBody>
          <a:bodyPr vert="horz" lIns="91440" tIns="45720" rIns="91440" bIns="45720" rtlCol="0">
            <a:normAutofit/>
          </a:bodyPr>
          <a:lstStyle/>
          <a:p>
            <a:pPr lvl="0">
              <a:lnSpc>
                <a:spcPct val="90000"/>
              </a:lnSpc>
              <a:spcBef>
                <a:spcPts val="1000"/>
              </a:spcBef>
            </a:pPr>
            <a:r>
              <a:rPr kumimoji="0" lang="es-ES" sz="1800" b="0" i="0" u="none" strike="noStrike" kern="1200" cap="none" spc="0" normalizeH="0" baseline="0" noProof="0" dirty="0" err="1">
                <a:ln>
                  <a:noFill/>
                </a:ln>
                <a:solidFill>
                  <a:srgbClr val="FFC000"/>
                </a:solidFill>
                <a:effectLst/>
                <a:uLnTx/>
                <a:uFillTx/>
                <a:latin typeface="Gill Sans MT" pitchFamily="34" charset="0"/>
              </a:rPr>
              <a:t>The</a:t>
            </a:r>
            <a:r>
              <a:rPr kumimoji="0" lang="es-ES" sz="1800" b="0" i="0" u="none" strike="noStrike" kern="1200" cap="none" spc="0" normalizeH="0" baseline="0" noProof="0" dirty="0">
                <a:ln>
                  <a:noFill/>
                </a:ln>
                <a:solidFill>
                  <a:srgbClr val="FFC000"/>
                </a:solidFill>
                <a:effectLst/>
                <a:uLnTx/>
                <a:uFillTx/>
                <a:latin typeface="Gill Sans MT" pitchFamily="34" charset="0"/>
              </a:rPr>
              <a:t> </a:t>
            </a:r>
            <a:r>
              <a:rPr kumimoji="0" lang="es-ES" sz="1800" b="0" i="0" u="none" strike="noStrike" kern="1200" cap="none" spc="0" normalizeH="0" baseline="0" noProof="0" dirty="0" err="1">
                <a:ln>
                  <a:noFill/>
                </a:ln>
                <a:solidFill>
                  <a:srgbClr val="FFC000"/>
                </a:solidFill>
                <a:effectLst/>
                <a:uLnTx/>
                <a:uFillTx/>
                <a:latin typeface="Gill Sans MT" pitchFamily="34" charset="0"/>
              </a:rPr>
              <a:t>enemies</a:t>
            </a:r>
            <a:endParaRPr kumimoji="0" lang="es-ES" sz="1800" b="0" i="0" u="none" strike="noStrike" kern="1200" cap="none" spc="0" normalizeH="0" baseline="0" noProof="0" dirty="0">
              <a:ln>
                <a:noFill/>
              </a:ln>
              <a:solidFill>
                <a:srgbClr val="FFC000"/>
              </a:solidFill>
              <a:effectLst/>
              <a:uLnTx/>
              <a:uFillTx/>
              <a:latin typeface="Gill Sans MT" pitchFamily="34" charset="0"/>
            </a:endParaRPr>
          </a:p>
        </p:txBody>
      </p:sp>
      <p:pic>
        <p:nvPicPr>
          <p:cNvPr id="3" name="Imagen 2" descr="Imagen que contiene naranja, pequeño, tabla, camioneta&#10;&#10;El contenido generado por IA puede ser incorrecto.">
            <a:extLst>
              <a:ext uri="{FF2B5EF4-FFF2-40B4-BE49-F238E27FC236}">
                <a16:creationId xmlns:a16="http://schemas.microsoft.com/office/drawing/2014/main" id="{2DB37A32-F6D8-E3F7-544E-97640379C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5113" y="544181"/>
            <a:ext cx="5625399" cy="3145077"/>
          </a:xfrm>
          <a:prstGeom prst="rect">
            <a:avLst/>
          </a:prstGeom>
        </p:spPr>
      </p:pic>
      <p:pic>
        <p:nvPicPr>
          <p:cNvPr id="5" name="Imagen 4" descr="Imagen que contiene interior, juguete, tabla, cumpleaños&#10;&#10;El contenido generado por IA puede ser incorrecto.">
            <a:extLst>
              <a:ext uri="{FF2B5EF4-FFF2-40B4-BE49-F238E27FC236}">
                <a16:creationId xmlns:a16="http://schemas.microsoft.com/office/drawing/2014/main" id="{0AA674A3-5E80-5CC3-708F-28D68B82E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35" y="877521"/>
            <a:ext cx="6259121" cy="3475512"/>
          </a:xfrm>
          <a:prstGeom prst="rect">
            <a:avLst/>
          </a:prstGeom>
        </p:spPr>
      </p:pic>
    </p:spTree>
    <p:extLst>
      <p:ext uri="{BB962C8B-B14F-4D97-AF65-F5344CB8AC3E}">
        <p14:creationId xmlns:p14="http://schemas.microsoft.com/office/powerpoint/2010/main" val="2994982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53DFC6-1AF1-FFC8-D78A-DAFC15EECEAA}"/>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FF097513-C451-F602-0DEC-6B5D3767264B}"/>
              </a:ext>
            </a:extLst>
          </p:cNvPr>
          <p:cNvSpPr>
            <a:spLocks noGrp="1"/>
          </p:cNvSpPr>
          <p:nvPr>
            <p:ph idx="1"/>
          </p:nvPr>
        </p:nvSpPr>
        <p:spPr/>
        <p:txBody>
          <a:bodyPr/>
          <a:lstStyle/>
          <a:p>
            <a:pPr marL="0" indent="0">
              <a:buNone/>
            </a:pPr>
            <a:r>
              <a:rPr lang="es-ES" dirty="0"/>
              <a:t>Logo </a:t>
            </a:r>
            <a:r>
              <a:rPr lang="es-ES" dirty="0" err="1"/>
              <a:t>Toy</a:t>
            </a:r>
            <a:r>
              <a:rPr lang="es-ES" dirty="0"/>
              <a:t> </a:t>
            </a:r>
            <a:r>
              <a:rPr lang="es-ES" dirty="0" err="1"/>
              <a:t>Story</a:t>
            </a:r>
            <a:r>
              <a:rPr lang="es-ES" dirty="0"/>
              <a:t> – </a:t>
            </a:r>
            <a:r>
              <a:rPr lang="es-ES" dirty="0" err="1"/>
              <a:t>StickPNG</a:t>
            </a:r>
            <a:endParaRPr lang="es-ES" dirty="0"/>
          </a:p>
          <a:p>
            <a:pPr marL="0" indent="0">
              <a:buNone/>
            </a:pPr>
            <a:r>
              <a:rPr lang="es-ES" dirty="0"/>
              <a:t>Iconos – </a:t>
            </a:r>
            <a:r>
              <a:rPr lang="es-ES" dirty="0" err="1"/>
              <a:t>Flaticon</a:t>
            </a:r>
            <a:r>
              <a:rPr lang="es-ES" dirty="0"/>
              <a:t> </a:t>
            </a:r>
            <a:r>
              <a:rPr lang="es-ES"/>
              <a:t>– </a:t>
            </a:r>
            <a:r>
              <a:rPr lang="es-ES" dirty="0"/>
              <a:t>Iconos8</a:t>
            </a:r>
          </a:p>
          <a:p>
            <a:pPr marL="0" indent="0">
              <a:buNone/>
            </a:pPr>
            <a:r>
              <a:rPr lang="es-ES" dirty="0"/>
              <a:t>Modelos Woody, </a:t>
            </a:r>
            <a:r>
              <a:rPr lang="es-ES" dirty="0" err="1"/>
              <a:t>Buzz</a:t>
            </a:r>
            <a:r>
              <a:rPr lang="es-ES" dirty="0"/>
              <a:t> y habitación – </a:t>
            </a:r>
            <a:r>
              <a:rPr lang="es-ES" dirty="0" err="1"/>
              <a:t>AgoraComunity</a:t>
            </a:r>
            <a:endParaRPr lang="es-ES" dirty="0"/>
          </a:p>
          <a:p>
            <a:pPr marL="0" indent="0">
              <a:buNone/>
            </a:pPr>
            <a:r>
              <a:rPr lang="es-ES" dirty="0"/>
              <a:t>Animaciones y </a:t>
            </a:r>
            <a:r>
              <a:rPr lang="es-ES" dirty="0" err="1"/>
              <a:t>rigs</a:t>
            </a:r>
            <a:r>
              <a:rPr lang="es-ES" dirty="0"/>
              <a:t>- </a:t>
            </a:r>
            <a:r>
              <a:rPr lang="es-ES" dirty="0" err="1"/>
              <a:t>Mixamo</a:t>
            </a:r>
            <a:endParaRPr lang="es-ES" dirty="0"/>
          </a:p>
          <a:p>
            <a:pPr marL="0" indent="0">
              <a:buNone/>
            </a:pPr>
            <a:r>
              <a:rPr lang="es-ES" dirty="0"/>
              <a:t>Canciones personalizadas – </a:t>
            </a:r>
            <a:r>
              <a:rPr lang="es-ES" dirty="0" err="1"/>
              <a:t>SunoAI</a:t>
            </a:r>
            <a:endParaRPr lang="es-ES" dirty="0"/>
          </a:p>
          <a:p>
            <a:pPr marL="0" indent="0">
              <a:buNone/>
            </a:pPr>
            <a:endParaRPr lang="es-ES" dirty="0"/>
          </a:p>
        </p:txBody>
      </p:sp>
    </p:spTree>
    <p:extLst>
      <p:ext uri="{BB962C8B-B14F-4D97-AF65-F5344CB8AC3E}">
        <p14:creationId xmlns:p14="http://schemas.microsoft.com/office/powerpoint/2010/main" val="13352437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1276</Words>
  <Application>Microsoft Office PowerPoint</Application>
  <PresentationFormat>Panorámica</PresentationFormat>
  <Paragraphs>60</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vt:lpstr>
      <vt:lpstr>Aptos Display</vt:lpstr>
      <vt:lpstr>Arial</vt:lpstr>
      <vt:lpstr>Gill Sans MT</vt:lpstr>
      <vt:lpstr>Tema de Office</vt:lpstr>
      <vt:lpstr>ANDY’S ROOM: NO ESCAPE</vt:lpstr>
      <vt:lpstr>1. THE TEAM</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ANDY’S ROOM: NO ESCAPE</dc:title>
  <dc:creator>Xiaowei Hu</dc:creator>
  <cp:lastModifiedBy>JOSE DONYATE MASET</cp:lastModifiedBy>
  <cp:revision>11</cp:revision>
  <dcterms:created xsi:type="dcterms:W3CDTF">2026-04-02T20:44:17Z</dcterms:created>
  <dcterms:modified xsi:type="dcterms:W3CDTF">2026-04-16T18:13:02Z</dcterms:modified>
</cp:coreProperties>
</file>